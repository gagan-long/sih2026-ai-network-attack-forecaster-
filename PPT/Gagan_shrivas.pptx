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Garamond"/>
      <p:regular r:id="rId12"/>
      <p:bold r:id="rId13"/>
      <p:italic r:id="rId14"/>
      <p:boldItalic r:id="rId15"/>
    </p:embeddedFont>
    <p:embeddedFont>
      <p:font typeface="Oswald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8" roundtripDataSignature="AMtx7miIJij5jCksVq6BPZ12QQNOn8Px9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Garamond-bold.fntdata"/><Relationship Id="rId12" Type="http://schemas.openxmlformats.org/officeDocument/2006/relationships/font" Target="fonts/Garamon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Garamond-boldItalic.fntdata"/><Relationship Id="rId14" Type="http://schemas.openxmlformats.org/officeDocument/2006/relationships/font" Target="fonts/Garamond-italic.fntdata"/><Relationship Id="rId17" Type="http://schemas.openxmlformats.org/officeDocument/2006/relationships/font" Target="fonts/Oswald-bold.fntdata"/><Relationship Id="rId16" Type="http://schemas.openxmlformats.org/officeDocument/2006/relationships/font" Target="fonts/Oswa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9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" type="body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2"/>
          <p:cNvSpPr txBox="1"/>
          <p:nvPr>
            <p:ph idx="2" type="body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3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3"/>
          <p:cNvSpPr txBox="1"/>
          <p:nvPr>
            <p:ph idx="3" type="body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3"/>
          <p:cNvSpPr txBox="1"/>
          <p:nvPr>
            <p:ph idx="4" type="body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3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/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" type="body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6"/>
          <p:cNvSpPr txBox="1"/>
          <p:nvPr>
            <p:ph idx="2" type="body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6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7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9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1" name="Google Shape;11;p8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7.jpg"/><Relationship Id="rId5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8.jpg"/><Relationship Id="rId5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0.png"/><Relationship Id="rId6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1.png"/><Relationship Id="rId10" Type="http://schemas.openxmlformats.org/officeDocument/2006/relationships/hyperlink" Target="https://stratosphereips.org/datasets-ctu13" TargetMode="External"/><Relationship Id="rId13" Type="http://schemas.openxmlformats.org/officeDocument/2006/relationships/hyperlink" Target="https://github.com/gagan-long/SIH2026-AI-Network-Attack-Forecaster-" TargetMode="External"/><Relationship Id="rId12" Type="http://schemas.openxmlformats.org/officeDocument/2006/relationships/hyperlink" Target="https://github.com/gagan-long/SIH2026-AI-Network-Attack-Forecaster-" TargetMode="Externa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9" Type="http://schemas.openxmlformats.org/officeDocument/2006/relationships/hyperlink" Target="https://nvd.nist.gov/" TargetMode="External"/><Relationship Id="rId5" Type="http://schemas.openxmlformats.org/officeDocument/2006/relationships/image" Target="../media/image2.png"/><Relationship Id="rId6" Type="http://schemas.openxmlformats.org/officeDocument/2006/relationships/hyperlink" Target="https://attack.mitre.org/" TargetMode="External"/><Relationship Id="rId7" Type="http://schemas.openxmlformats.org/officeDocument/2006/relationships/hyperlink" Target="https://attack.mitre.org/" TargetMode="External"/><Relationship Id="rId8" Type="http://schemas.openxmlformats.org/officeDocument/2006/relationships/hyperlink" Target="https://capec.mitre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940875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7893580" y="2037333"/>
            <a:ext cx="4638605" cy="5154967"/>
          </a:xfrm>
          <a:custGeom>
            <a:rect b="b" l="l" r="r" t="t"/>
            <a:pathLst>
              <a:path extrusionOk="0" h="5154967" w="6184806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2"/>
            </a:srgbClr>
          </a:solidFill>
          <a:ln>
            <a:noFill/>
          </a:ln>
          <a:effectLst>
            <a:reflection blurRad="0" dir="5400000" dist="38100" endA="0" endPos="30000" fadeDir="5400012" kx="0" rotWithShape="0" algn="bl" stA="42000" stPos="0" sy="-100000" ky="0"/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 amt="54000"/>
          </a:blip>
          <a:srcRect b="0" l="0" r="59916" t="0"/>
          <a:stretch/>
        </p:blipFill>
        <p:spPr>
          <a:xfrm>
            <a:off x="8988491" y="2901706"/>
            <a:ext cx="3203507" cy="3426237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/>
          <p:nvPr>
            <p:ph type="ctrTitle"/>
          </p:nvPr>
        </p:nvSpPr>
        <p:spPr>
          <a:xfrm>
            <a:off x="-127150" y="-454618"/>
            <a:ext cx="10363200" cy="207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100" u="sng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SMART INDIA HACKATHON 2026</a:t>
            </a:r>
            <a:endParaRPr b="1" sz="4100" u="sng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400800" y="1332825"/>
            <a:ext cx="11390400" cy="5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ID –        </a:t>
            </a:r>
            <a:r>
              <a:rPr b="1" lang="en-US" sz="2400">
                <a:solidFill>
                  <a:schemeClr val="dk2"/>
                </a:solidFill>
              </a:rPr>
              <a:t>26153</a:t>
            </a:r>
            <a:r>
              <a:rPr b="1" lang="en-US" sz="2400">
                <a:solidFill>
                  <a:schemeClr val="dk1"/>
                </a:solidFill>
              </a:rPr>
              <a:t> </a:t>
            </a:r>
            <a:endParaRPr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Title -</a:t>
            </a:r>
            <a:r>
              <a:rPr b="1" lang="en-US" sz="2400">
                <a:solidFill>
                  <a:schemeClr val="dk1"/>
                </a:solidFill>
              </a:rPr>
              <a:t> </a:t>
            </a:r>
            <a:r>
              <a:rPr b="1" lang="en-US" sz="2400">
                <a:solidFill>
                  <a:schemeClr val="dk2"/>
                </a:solidFill>
              </a:rPr>
              <a:t>AI based Network Attack Forecasting from Network Traffic Data </a:t>
            </a:r>
            <a:endParaRPr b="1" sz="2400">
              <a:solidFill>
                <a:schemeClr val="accent1"/>
              </a:solidFill>
            </a:endParaRPr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Theme -</a:t>
            </a:r>
            <a:r>
              <a:rPr b="1" lang="en-US" sz="2400">
                <a:solidFill>
                  <a:schemeClr val="dk1"/>
                </a:solidFill>
              </a:rPr>
              <a:t> </a:t>
            </a:r>
            <a:r>
              <a:rPr b="1" lang="en-US" sz="2400">
                <a:solidFill>
                  <a:schemeClr val="dk2"/>
                </a:solidFill>
              </a:rPr>
              <a:t>Blockchain &amp; Cybersecurity</a:t>
            </a:r>
            <a:r>
              <a:rPr b="1" lang="en-US" sz="2400">
                <a:solidFill>
                  <a:schemeClr val="dk1"/>
                </a:solidFill>
              </a:rPr>
              <a:t> </a:t>
            </a:r>
            <a:endParaRPr b="1" sz="2400">
              <a:solidFill>
                <a:schemeClr val="dk1"/>
              </a:solidFill>
            </a:endParaRPr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PS Category - </a:t>
            </a:r>
            <a:r>
              <a:rPr b="1" lang="en-US" sz="2400">
                <a:solidFill>
                  <a:schemeClr val="dk2"/>
                </a:solidFill>
              </a:rPr>
              <a:t>Software</a:t>
            </a:r>
            <a:endParaRPr b="1" sz="2400">
              <a:solidFill>
                <a:schemeClr val="dk2"/>
              </a:solidFill>
            </a:endParaRPr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ID - </a:t>
            </a:r>
            <a:endParaRPr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Name </a:t>
            </a:r>
            <a:r>
              <a:rPr b="1" lang="en-US" sz="2400">
                <a:solidFill>
                  <a:schemeClr val="dk1"/>
                </a:solidFill>
              </a:rPr>
              <a:t>-</a:t>
            </a:r>
            <a:r>
              <a:rPr b="1" lang="en-US" sz="2400">
                <a:solidFill>
                  <a:schemeClr val="dk2"/>
                </a:solidFill>
              </a:rPr>
              <a:t> Foresight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" name="Google Shape;93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 txBox="1"/>
          <p:nvPr>
            <p:ph type="title"/>
          </p:nvPr>
        </p:nvSpPr>
        <p:spPr>
          <a:xfrm>
            <a:off x="482823" y="-30618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n-US" sz="4100" u="sng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</a:br>
            <a:r>
              <a:rPr b="1" lang="en-US" sz="4100" u="sng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THREAT-HORIZON</a:t>
            </a:r>
            <a:r>
              <a:rPr b="1" lang="en-US" sz="41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  <a:endParaRPr b="1" sz="41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100" name="Google Shape;10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2" title="WhatsApp Image 2026-09-04 at 8.19.37 PM.jpeg"/>
          <p:cNvPicPr preferRelativeResize="0"/>
          <p:nvPr/>
        </p:nvPicPr>
        <p:blipFill rotWithShape="1">
          <a:blip r:embed="rId4">
            <a:alphaModFix/>
          </a:blip>
          <a:srcRect b="5170" l="0" r="0" t="11719"/>
          <a:stretch/>
        </p:blipFill>
        <p:spPr>
          <a:xfrm>
            <a:off x="-7300" y="1063734"/>
            <a:ext cx="12192000" cy="5716774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"/>
          <p:cNvSpPr/>
          <p:nvPr/>
        </p:nvSpPr>
        <p:spPr>
          <a:xfrm>
            <a:off x="9499700" y="1059575"/>
            <a:ext cx="2685000" cy="297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03" name="Google Shape;103;p2" title="Gemini_Generated_Image_qctys2qctys2qcty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1500"/>
            <a:ext cx="2037048" cy="1111024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"/>
          <p:cNvSpPr txBox="1"/>
          <p:nvPr/>
        </p:nvSpPr>
        <p:spPr>
          <a:xfrm>
            <a:off x="988625" y="1188784"/>
            <a:ext cx="3477600" cy="169200"/>
          </a:xfrm>
          <a:prstGeom prst="rect">
            <a:avLst/>
          </a:prstGeom>
          <a:solidFill>
            <a:srgbClr val="0030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-US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Detailed Explanation of the Proposed Solution</a:t>
            </a:r>
            <a:endParaRPr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367425" y="1470175"/>
            <a:ext cx="2250000" cy="817800"/>
          </a:xfrm>
          <a:prstGeom prst="rect">
            <a:avLst/>
          </a:prstGeom>
          <a:solidFill>
            <a:srgbClr val="FEEFF4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n-US" sz="1180">
                <a:solidFill>
                  <a:srgbClr val="CC0000"/>
                </a:solidFill>
                <a:latin typeface="Oswald"/>
                <a:ea typeface="Oswald"/>
                <a:cs typeface="Oswald"/>
                <a:sym typeface="Oswald"/>
              </a:rPr>
              <a:t>Beyond Static IDS</a:t>
            </a:r>
            <a:endParaRPr sz="1180">
              <a:solidFill>
                <a:srgbClr val="CC0000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n-US" sz="980">
                <a:solidFill>
                  <a:srgbClr val="1C4587"/>
                </a:solidFill>
                <a:latin typeface="Oswald"/>
                <a:ea typeface="Oswald"/>
                <a:cs typeface="Oswald"/>
                <a:sym typeface="Oswald"/>
              </a:rPr>
              <a:t>Traditional classifiers evaluate isolated packets/flows (X →Y),</a:t>
            </a:r>
            <a:endParaRPr sz="980">
              <a:solidFill>
                <a:srgbClr val="1C4587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n-US" sz="980">
                <a:solidFill>
                  <a:srgbClr val="1C4587"/>
                </a:solidFill>
                <a:latin typeface="Oswald"/>
                <a:ea typeface="Oswald"/>
                <a:cs typeface="Oswald"/>
                <a:sym typeface="Oswald"/>
              </a:rPr>
              <a:t>missing low-and-slow campaigns</a:t>
            </a:r>
            <a:endParaRPr sz="980">
              <a:solidFill>
                <a:srgbClr val="1C4587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"/>
          <p:cNvSpPr txBox="1"/>
          <p:nvPr>
            <p:ph type="title"/>
          </p:nvPr>
        </p:nvSpPr>
        <p:spPr>
          <a:xfrm>
            <a:off x="490538" y="-115661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100" u="sng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TECHNICAL APPROACH</a:t>
            </a:r>
            <a:endParaRPr b="1" sz="4100" u="sng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112" name="Google Shape;11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3" title="WhatsApp Image 2026-09-04 at 8.17.20 PM.jpeg"/>
          <p:cNvPicPr preferRelativeResize="0"/>
          <p:nvPr/>
        </p:nvPicPr>
        <p:blipFill rotWithShape="1">
          <a:blip r:embed="rId4">
            <a:alphaModFix/>
          </a:blip>
          <a:srcRect b="27850" l="0" r="0" t="11130"/>
          <a:stretch/>
        </p:blipFill>
        <p:spPr>
          <a:xfrm>
            <a:off x="0" y="1095375"/>
            <a:ext cx="12192000" cy="5683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3" title="Gemini_Generated_Image_qctys2qctys2qcty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1500"/>
            <a:ext cx="2037048" cy="1111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 txBox="1"/>
          <p:nvPr>
            <p:ph type="title"/>
          </p:nvPr>
        </p:nvSpPr>
        <p:spPr>
          <a:xfrm>
            <a:off x="388484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 u="sng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FEASIBILITY AND VIABILITY</a:t>
            </a:r>
            <a:endParaRPr sz="4300"/>
          </a:p>
        </p:txBody>
      </p:sp>
      <p:sp>
        <p:nvSpPr>
          <p:cNvPr id="121" name="Google Shape;121;p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2" name="Google Shape;122;p4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23" name="Google Shape;12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4" title="ChatGPT Image Sep 4, 2026, 07_15_51 PM.png"/>
          <p:cNvPicPr preferRelativeResize="0"/>
          <p:nvPr/>
        </p:nvPicPr>
        <p:blipFill rotWithShape="1">
          <a:blip r:embed="rId4">
            <a:alphaModFix/>
          </a:blip>
          <a:srcRect b="12836" l="0" r="0" t="37681"/>
          <a:stretch/>
        </p:blipFill>
        <p:spPr>
          <a:xfrm>
            <a:off x="103800" y="3170200"/>
            <a:ext cx="11984402" cy="3616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4" title="Gemini_Generated_Image_qctys2qctys2qcty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1500"/>
            <a:ext cx="2037048" cy="111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4" title="ChatGPT Image Sep 9, 2026, 09_34_56 PM.png"/>
          <p:cNvPicPr preferRelativeResize="0"/>
          <p:nvPr/>
        </p:nvPicPr>
        <p:blipFill rotWithShape="1">
          <a:blip r:embed="rId6">
            <a:alphaModFix/>
          </a:blip>
          <a:srcRect b="24464" l="0" r="0" t="20376"/>
          <a:stretch/>
        </p:blipFill>
        <p:spPr>
          <a:xfrm>
            <a:off x="103800" y="1112525"/>
            <a:ext cx="11984399" cy="2057676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4"/>
          <p:cNvSpPr/>
          <p:nvPr/>
        </p:nvSpPr>
        <p:spPr>
          <a:xfrm>
            <a:off x="1759675" y="2089600"/>
            <a:ext cx="1600800" cy="265200"/>
          </a:xfrm>
          <a:prstGeom prst="rect">
            <a:avLst/>
          </a:prstGeom>
          <a:solidFill>
            <a:srgbClr val="F6FAFE"/>
          </a:solidFill>
          <a:ln cap="flat" cmpd="sng" w="9525">
            <a:solidFill>
              <a:srgbClr val="F6F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8" name="Google Shape;128;p4"/>
          <p:cNvSpPr txBox="1"/>
          <p:nvPr/>
        </p:nvSpPr>
        <p:spPr>
          <a:xfrm>
            <a:off x="1681244" y="1983629"/>
            <a:ext cx="2355600" cy="7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benchmark datasets</a:t>
            </a:r>
            <a:endParaRPr sz="15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(CIC-</a:t>
            </a:r>
            <a:r>
              <a:rPr lang="en-US" sz="15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IDS 2018</a:t>
            </a:r>
            <a:r>
              <a:rPr lang="en-US" sz="15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, UNSW-NB15)</a:t>
            </a:r>
            <a:endParaRPr sz="15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100" u="sng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IMPACT AND BENEFITS</a:t>
            </a:r>
            <a:endParaRPr b="1" sz="4100" u="sng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135" name="Google Shape;13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5" title="ChatGPT Image Sep 4, 2026, 07_20_57 PM.png"/>
          <p:cNvPicPr preferRelativeResize="0"/>
          <p:nvPr/>
        </p:nvPicPr>
        <p:blipFill rotWithShape="1">
          <a:blip r:embed="rId4">
            <a:alphaModFix/>
          </a:blip>
          <a:srcRect b="13432" l="0" r="0" t="9946"/>
          <a:stretch/>
        </p:blipFill>
        <p:spPr>
          <a:xfrm>
            <a:off x="0" y="1112525"/>
            <a:ext cx="12192000" cy="574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5" title="Gemini_Generated_Image_qctys2qctys2qcty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1500"/>
            <a:ext cx="2037048" cy="1111024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5"/>
          <p:cNvSpPr/>
          <p:nvPr/>
        </p:nvSpPr>
        <p:spPr>
          <a:xfrm>
            <a:off x="9797950" y="6019225"/>
            <a:ext cx="1784400" cy="725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"/>
          <p:cNvSpPr txBox="1"/>
          <p:nvPr>
            <p:ph type="title"/>
          </p:nvPr>
        </p:nvSpPr>
        <p:spPr>
          <a:xfrm>
            <a:off x="354466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900" u="sng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RESEARCH  AND REFERENCES</a:t>
            </a:r>
            <a:endParaRPr b="1" sz="3900" u="sng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145" name="Google Shape;14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6" title="Gemini_Generated_Image_qctys2qctys2qct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500"/>
            <a:ext cx="2037048" cy="11110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7" name="Google Shape;147;p6"/>
          <p:cNvGrpSpPr/>
          <p:nvPr/>
        </p:nvGrpSpPr>
        <p:grpSpPr>
          <a:xfrm>
            <a:off x="0" y="4038658"/>
            <a:ext cx="12192000" cy="2262690"/>
            <a:chOff x="0" y="4436975"/>
            <a:chExt cx="12192000" cy="2421025"/>
          </a:xfrm>
        </p:grpSpPr>
        <p:pic>
          <p:nvPicPr>
            <p:cNvPr id="148" name="Google Shape;148;p6" title="ChatGPT Image Sep 4, 2026, 07_24_54 PM.png"/>
            <p:cNvPicPr preferRelativeResize="0"/>
            <p:nvPr/>
          </p:nvPicPr>
          <p:blipFill rotWithShape="1">
            <a:blip r:embed="rId5">
              <a:alphaModFix/>
            </a:blip>
            <a:srcRect b="10794" l="0" r="0" t="56087"/>
            <a:stretch/>
          </p:blipFill>
          <p:spPr>
            <a:xfrm>
              <a:off x="0" y="4436975"/>
              <a:ext cx="12192000" cy="24210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9" name="Google Shape;149;p6">
              <a:hlinkClick r:id="rId6"/>
            </p:cNvPr>
            <p:cNvSpPr txBox="1"/>
            <p:nvPr/>
          </p:nvSpPr>
          <p:spPr>
            <a:xfrm>
              <a:off x="6258856" y="4878975"/>
              <a:ext cx="3538200" cy="311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u="sng">
                  <a:solidFill>
                    <a:schemeClr val="hlink"/>
                  </a:solidFill>
                  <a:latin typeface="Oswald"/>
                  <a:ea typeface="Oswald"/>
                  <a:cs typeface="Oswald"/>
                  <a:sym typeface="Oswald"/>
                  <a:hlinkClick r:id="rId7"/>
                </a:rPr>
                <a:t>https://attack.mitre.org/</a:t>
              </a:r>
              <a:endParaRPr sz="15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150" name="Google Shape;150;p6"/>
            <p:cNvSpPr txBox="1"/>
            <p:nvPr/>
          </p:nvSpPr>
          <p:spPr>
            <a:xfrm>
              <a:off x="6278000" y="5301020"/>
              <a:ext cx="2037000" cy="311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u="sng">
                  <a:solidFill>
                    <a:schemeClr val="hlink"/>
                  </a:solidFill>
                  <a:latin typeface="Oswald"/>
                  <a:ea typeface="Oswald"/>
                  <a:cs typeface="Oswald"/>
                  <a:sym typeface="Oswald"/>
                  <a:hlinkClick r:id="rId8"/>
                </a:rPr>
                <a:t>https://capec.mitre.org/</a:t>
              </a:r>
              <a:endParaRPr sz="15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151" name="Google Shape;151;p6"/>
            <p:cNvSpPr txBox="1"/>
            <p:nvPr/>
          </p:nvSpPr>
          <p:spPr>
            <a:xfrm>
              <a:off x="6258850" y="5723075"/>
              <a:ext cx="1827900" cy="311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u="sng">
                  <a:solidFill>
                    <a:schemeClr val="hlink"/>
                  </a:solidFill>
                  <a:latin typeface="Oswald"/>
                  <a:ea typeface="Oswald"/>
                  <a:cs typeface="Oswald"/>
                  <a:sym typeface="Oswald"/>
                  <a:hlinkClick r:id="rId9"/>
                </a:rPr>
                <a:t>https://nvd.nist.gov/</a:t>
              </a:r>
              <a:endParaRPr sz="15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152" name="Google Shape;152;p6"/>
            <p:cNvSpPr txBox="1"/>
            <p:nvPr/>
          </p:nvSpPr>
          <p:spPr>
            <a:xfrm>
              <a:off x="6278000" y="6113745"/>
              <a:ext cx="3351900" cy="252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u="sng">
                  <a:solidFill>
                    <a:schemeClr val="hlink"/>
                  </a:solidFill>
                  <a:latin typeface="Oswald"/>
                  <a:ea typeface="Oswald"/>
                  <a:cs typeface="Oswald"/>
                  <a:sym typeface="Oswald"/>
                  <a:hlinkClick r:id="rId10"/>
                </a:rPr>
                <a:t>https://stratosphereips.org/datasets-ctu13</a:t>
              </a:r>
              <a:endParaRPr sz="15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</p:grpSp>
      <p:pic>
        <p:nvPicPr>
          <p:cNvPr id="153" name="Google Shape;153;p6" title="ChatGPT Image Sep 4, 2026, 07_24_54 PM.png"/>
          <p:cNvPicPr preferRelativeResize="0"/>
          <p:nvPr/>
        </p:nvPicPr>
        <p:blipFill rotWithShape="1">
          <a:blip r:embed="rId5">
            <a:alphaModFix/>
          </a:blip>
          <a:srcRect b="43900" l="0" r="1147" t="10612"/>
          <a:stretch/>
        </p:blipFill>
        <p:spPr>
          <a:xfrm>
            <a:off x="0" y="1112525"/>
            <a:ext cx="12192000" cy="2953449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6"/>
          <p:cNvSpPr/>
          <p:nvPr/>
        </p:nvSpPr>
        <p:spPr>
          <a:xfrm>
            <a:off x="5640450" y="1063825"/>
            <a:ext cx="1632900" cy="357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55" name="Google Shape;155;p6" title="ChatGPT Image Sep 13, 2026, 06_29_57 PM.png"/>
          <p:cNvPicPr preferRelativeResize="0"/>
          <p:nvPr/>
        </p:nvPicPr>
        <p:blipFill rotWithShape="1">
          <a:blip r:embed="rId11">
            <a:alphaModFix/>
          </a:blip>
          <a:srcRect b="7399" l="0" r="0" t="85342"/>
          <a:stretch/>
        </p:blipFill>
        <p:spPr>
          <a:xfrm>
            <a:off x="0" y="6301375"/>
            <a:ext cx="12191998" cy="563451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6"/>
          <p:cNvSpPr/>
          <p:nvPr/>
        </p:nvSpPr>
        <p:spPr>
          <a:xfrm>
            <a:off x="6193675" y="6404450"/>
            <a:ext cx="5016000" cy="357300"/>
          </a:xfrm>
          <a:prstGeom prst="roundRect">
            <a:avLst>
              <a:gd fmla="val 16667" name="adj"/>
            </a:avLst>
          </a:prstGeom>
          <a:solidFill>
            <a:srgbClr val="0150C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7" name="Google Shape;157;p6"/>
          <p:cNvSpPr txBox="1"/>
          <p:nvPr/>
        </p:nvSpPr>
        <p:spPr>
          <a:xfrm>
            <a:off x="6096134" y="6417040"/>
            <a:ext cx="48882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u="sng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https://github.com/gagan-long/SIH2026-AI-Network-Attack-Forecaster-</a:t>
            </a:r>
            <a:r>
              <a:rPr lang="en-US" sz="1000" u="sng">
                <a:solidFill>
                  <a:schemeClr val="hlink"/>
                </a:solidFill>
                <a:hlinkClick r:id="rId13"/>
              </a:rPr>
              <a:t> </a:t>
            </a:r>
            <a:endParaRPr sz="9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2013-12-12T18:46:50Z</dcterms:created>
  <dc:creator>Crowdfunder</dc:creator>
</cp:coreProperties>
</file>